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91440"/>
          </a:xfrm>
          <a:prstGeom prst="rect">
            <a:avLst/>
          </a:prstGeom>
          <a:solidFill>
            <a:srgbClr val="14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DDEFB"/>
                </a:solidFill>
                <a:latin typeface="Calibri"/>
              </a:rPr>
              <a:t>EWS LANDSLIDE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severity numbers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1">
                <a:solidFill>
                  <a:srgbClr val="66707C"/>
                </a:solidFill>
                <a:latin typeface="Calibri"/>
              </a:rPr>
              <a:t>A simple walkthrough — no technical background required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48463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892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22C"/>
                </a:solidFill>
                <a:latin typeface="Calibri"/>
              </a:rPr>
              <a:t>What they are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48463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92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22C"/>
                </a:solidFill>
                <a:latin typeface="Calibri"/>
              </a:rPr>
              <a:t>How they're calculated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48463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8920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22C"/>
                </a:solidFill>
                <a:latin typeface="Calibri"/>
              </a:rPr>
              <a:t>What changes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The EWS Landslide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22C"/>
                </a:solidFill>
                <a:latin typeface="Calibri"/>
              </a:rPr>
              <a:t>Sensors in the field monitor landslide-prone sites 24/7.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6707C"/>
                </a:solidFill>
                <a:latin typeface="Calibri"/>
              </a:rPr>
              <a:t>They measure rainfall, ground vibration, tilt, and cracks.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6707C"/>
                </a:solidFill>
                <a:latin typeface="Calibri"/>
              </a:rPr>
              <a:t>The system combines all of these to assign a severity number to each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338328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33832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4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Rain, vibration,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tilt, crack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108960"/>
            <a:ext cx="338328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3108960"/>
            <a:ext cx="3383280" cy="4572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15-minute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976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Fresh data every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15 minutes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108960"/>
            <a:ext cx="338328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3108960"/>
            <a:ext cx="3383280" cy="457200"/>
          </a:xfrm>
          <a:prstGeom prst="rect">
            <a:avLst/>
          </a:prstGeom>
          <a:solidFill>
            <a:srgbClr val="935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31089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15 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9768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Nodes Alpha through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November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WHAT YOU SEE ON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Three states: Green, Yellow,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22C"/>
                </a:solidFill>
                <a:latin typeface="Calibri"/>
              </a:rPr>
              <a:t>Each node card shows one of three status colors based on a score from 0 to 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3383280" cy="3657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3383280" cy="10972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94560" y="2377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94560" y="2377440"/>
            <a:ext cx="640080" cy="64008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 –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9F6E"/>
                </a:solidFill>
                <a:latin typeface="Calibri"/>
              </a:rPr>
              <a:t>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Light rain. Quiet site. No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103120"/>
            <a:ext cx="3383280" cy="3657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103120"/>
            <a:ext cx="3383280" cy="1097280"/>
          </a:xfrm>
          <a:prstGeom prst="rect">
            <a:avLst/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52160" y="2377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52160" y="2377440"/>
            <a:ext cx="640080" cy="640080"/>
          </a:xfrm>
          <a:prstGeom prst="ellipse">
            <a:avLst/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2377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 –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D97306"/>
                </a:solidFill>
                <a:latin typeface="Calibri"/>
              </a:rPr>
              <a:t>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404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Above-average rain. Site is active.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103120"/>
            <a:ext cx="3383280" cy="3657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2103120"/>
            <a:ext cx="338328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09760" y="2377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09760" y="237744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2377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 –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832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Heavy rain or peak readings. Full alert.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THE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How the number is calculated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22C"/>
                </a:solidFill>
                <a:latin typeface="Calibri"/>
              </a:rPr>
              <a:t>Two steps. That's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10515600" cy="1828800"/>
          </a:xfrm>
          <a:prstGeom prst="round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DDEFB"/>
                </a:solidFill>
                <a:latin typeface="Calibri"/>
              </a:rPr>
              <a:t>Step 1: Normalise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E6EDF3"/>
                </a:solidFill>
                <a:latin typeface="Consolas"/>
              </a:rPr>
              <a:t>score = raw_value  ÷ 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B3D0"/>
                </a:solidFill>
                <a:latin typeface="Calibri"/>
              </a:rPr>
              <a:t>The sensor capacity is 80 tips per 15 minutes.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B3D0"/>
                </a:solidFill>
                <a:latin typeface="Calibri"/>
              </a:rPr>
              <a:t>If the sensor shows 52, the score is 52 ÷ 80 = 0.65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31920"/>
            <a:ext cx="10515600" cy="1645920"/>
          </a:xfrm>
          <a:prstGeom prst="round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DDEFB"/>
                </a:solidFill>
                <a:latin typeface="Calibri"/>
              </a:rPr>
              <a:t>Step 2: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E6EDF3"/>
                </a:solidFill>
                <a:latin typeface="Consolas"/>
              </a:rPr>
              <a:t>severity_score = score  × 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B3D0"/>
                </a:solidFill>
                <a:latin typeface="Calibri"/>
              </a:rPr>
              <a:t>Multiply by 20 so we get a number between 0 and 20.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B3D0"/>
                </a:solidFill>
                <a:latin typeface="Calibri"/>
              </a:rPr>
              <a:t>    0.65 × 20 = 13.0  →  shows as 13.00 on the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6707C"/>
                </a:solidFill>
                <a:latin typeface="Consolas"/>
              </a:rPr>
              <a:t>Quick reference:  raw 10 → 2.5  |  raw 25 → 6.25  |  raw 40 → 10.0  |  raw 64 → 16.0  |  raw 80 → 20.0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DASHBOARD VS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Two numbers, two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22C"/>
                </a:solidFill>
                <a:latin typeface="Calibri"/>
              </a:rPr>
              <a:t>The score you see on the card is NOT what decides who gets SMS. They are two separate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4937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Dashboard Score  (what you see)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Range: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43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0 to 20 (decimal, e.g. 13.00)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Formula: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00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raw_value ÷ 80 ×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Colors: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6576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Green 0–3  ·  Yellow 3–10  ·  Red 10–20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Purpose: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1148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Show the operator a real-time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Calls anyone?: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011680"/>
            <a:ext cx="4937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2011680"/>
            <a:ext cx="493776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0116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Alert Trigger  (who gets notified)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43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Range: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7432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0, 1, 2, 3 (integer, never decimal)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004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Formula: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2004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max(hardware_thresholds, ML_probability)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576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Meaning: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6576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0: quiet  ·  1: email  ·  2: +SMS  ·  3: all admins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1148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Purpose: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Decide who gets notified, and how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720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22C"/>
                </a:solidFill>
                <a:latin typeface="Calibri"/>
              </a:rPr>
              <a:t>Calls anyone?: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5720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Yes — SMS to operators and admins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760720"/>
            <a:ext cx="10515600" cy="5943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6FEB"/>
                </a:solidFill>
                <a:latin typeface="Calibri"/>
              </a:rPr>
              <a:t>Key insight: 13.00 on the card tells you WHAT is happening. Alert trigger = 2 tells you WHO is being told.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What changes the score on the card?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222C"/>
                </a:solidFill>
                <a:latin typeface="Calibri"/>
              </a:rPr>
              <a:t>Only four things. No hidden cron jobs. No manual overrides.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05156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1945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57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22C"/>
                </a:solidFill>
                <a:latin typeface="Calibri"/>
              </a:rPr>
              <a:t>A new sensor reading arrives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9572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Every 15 minutes the sensor sends fresh data. The formula recalculates instantly.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Raw 52 → score 13.0. Raw 64 → score 16.0. New rain = new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71800"/>
            <a:ext cx="105156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1560" y="315468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017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22C"/>
                </a:solidFill>
                <a:latin typeface="Calibri"/>
              </a:rPr>
              <a:t>The formula denominator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5584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If the sensor capacity is upgraded from 80 to 100, the same rain reads lower.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Raw 52 → 52 ÷ 100 × 20 = 10.4 instead of 13.0. Rare.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105156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" y="411480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77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22C"/>
                </a:solidFill>
                <a:latin typeface="Calibri"/>
              </a:rPr>
              <a:t>The color-band thresholds are 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1596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The ops team can change when a card goes from green to yellow (default: 3)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or yellow to red (default: 10). Changes colors, not the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92040"/>
            <a:ext cx="105156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51560" y="507492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074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37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22C"/>
                </a:solidFill>
                <a:latin typeface="Calibri"/>
              </a:rPr>
              <a:t>Demo data is injected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27608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The team can simulate readings that walk the score from 0 to 20 for training.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Never happens during real operations.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943600"/>
            <a:ext cx="10515600" cy="457200"/>
          </a:xfrm>
          <a:prstGeom prst="roundRect">
            <a:avLst/>
          </a:prstGeom>
          <a:solidFill>
            <a:srgbClr val="FD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What does NOT change it: cron jobs, manual typing, magic.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18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6FEB"/>
                </a:solidFill>
                <a:latin typeface="Calibri"/>
              </a:rPr>
              <a:t>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222C"/>
                </a:solidFill>
                <a:latin typeface="Calibri"/>
              </a:rPr>
              <a:t>Three takeaways.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105156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6FEB"/>
                </a:solidFill>
                <a:latin typeface="Calibri"/>
              </a:rPr>
              <a:t>The score is simple.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raw_value ÷ 80 × 20 = 0 to 20. Three bands: green 0–3, yellow 3–10, red 10–20.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105156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6FEB"/>
                </a:solidFill>
                <a:latin typeface="Calibri"/>
              </a:rPr>
              <a:t>Two systems work side by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707C"/>
                </a:solidFill>
                <a:latin typeface="Calibri"/>
              </a:rPr>
              <a:t>Dashboard score shows you the state. Alert trigger (0–3) decides who gets SMS.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105156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19" y="4526280"/>
            <a:ext cx="6260951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 dirty="0">
                <a:solidFill>
                  <a:srgbClr val="1F6FEB"/>
                </a:solidFill>
                <a:latin typeface="Calibri"/>
              </a:rPr>
              <a:t>Numbers only change when new data arrives.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66707C"/>
                </a:solidFill>
                <a:latin typeface="Calibri"/>
              </a:rPr>
              <a:t>Every 15 minutes from the sensor. No </a:t>
            </a:r>
            <a:r>
              <a:rPr sz="1200" b="0" i="0" dirty="0" err="1">
                <a:solidFill>
                  <a:srgbClr val="66707C"/>
                </a:solidFill>
                <a:latin typeface="Calibri"/>
              </a:rPr>
              <a:t>cron</a:t>
            </a:r>
            <a:r>
              <a:rPr sz="1200" b="0" i="0" dirty="0">
                <a:solidFill>
                  <a:srgbClr val="66707C"/>
                </a:solidFill>
                <a:latin typeface="Calibri"/>
              </a:rPr>
              <a:t>. No manual override. No hidden clock.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The dashboard score only shows rain. Tilt, vibration, and crack are evaluated by the alert trigger separately.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6707C"/>
                </a:solidFill>
                <a:latin typeface="Calibri"/>
              </a:rPr>
              <a:t>Trust the dashboard to show you what's happening. Trust the operators to decide what to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601968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EWS Landslide · Severity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601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707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816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Rakha Iqbal Sidik</cp:lastModifiedBy>
  <cp:revision>2</cp:revision>
  <dcterms:created xsi:type="dcterms:W3CDTF">2013-01-27T09:14:16Z</dcterms:created>
  <dcterms:modified xsi:type="dcterms:W3CDTF">2026-06-08T17:43:48Z</dcterms:modified>
  <cp:category/>
</cp:coreProperties>
</file>