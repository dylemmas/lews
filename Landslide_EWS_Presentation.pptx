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97680" y="914400"/>
            <a:ext cx="7589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F766E"/>
                </a:solidFill>
                <a:latin typeface="Calibri"/>
              </a:rPr>
              <a:t>Landslide Early
Warning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3774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Calibri"/>
              </a:rPr>
              <a:t>IoT • Machine Learning • SaaS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926080"/>
            <a:ext cx="6858000" cy="45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310896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47485B"/>
                </a:solidFill>
                <a:latin typeface="Calibri"/>
              </a:rPr>
              <a:t>Riset Lab IoT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520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7485B"/>
                </a:solidFill>
                <a:latin typeface="Calibri"/>
              </a:rPr>
              <a:t>Universitas Padjadjaran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8862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9AB0"/>
                </a:solidFill>
                <a:latin typeface="Calibri"/>
              </a:rPr>
              <a:t>Bandung, Indonesia •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Prototype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FBF1"/>
                </a:solidFill>
                <a:latin typeface="Calibri"/>
              </a:rPr>
              <a:t>5 Nodes +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FBF1"/>
                </a:solidFill>
                <a:latin typeface="Calibri"/>
              </a:rPr>
              <a:t>LoRaWAN + 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CFBF1"/>
                </a:solidFill>
                <a:latin typeface="Calibri"/>
              </a:rPr>
              <a:t>Solar Powered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5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Latar 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485B"/>
                </a:solidFill>
                <a:latin typeface="Calibri"/>
              </a:rPr>
              <a:t>Masalah Longsor di Bandung dan Kebutuhan Sistem Peringatan Dini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Permasalahan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485B"/>
                </a:solidFill>
                <a:latin typeface="Calibri"/>
              </a:rPr>
              <a:t>Bandung rural memiliki risiko longsor tinggi
(musim hujan Oktober–Maret)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485B"/>
                </a:solidFill>
                <a:latin typeface="Calibri"/>
              </a:rPr>
              <a:t>Monitoring manual tidak mampu mendeteksi
pergeseran lereng secara real-time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1089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485B"/>
                </a:solidFill>
                <a:latin typeface="Calibri"/>
              </a:rPr>
              <a:t>Sistem EWS komersial berharga mahal
(Rp 50M+ per node industri)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485B"/>
                </a:solidFill>
                <a:latin typeface="Calibri"/>
              </a:rPr>
              <a:t>Kurang akses internet di pedesaan
membatasi solusi berbasis cloud saja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005840"/>
            <a:ext cx="566928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097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766E"/>
                </a:solidFill>
                <a:latin typeface="Calibri"/>
              </a:rPr>
              <a:t>Solusi yang Diusulkan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5544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485B"/>
                </a:solidFill>
                <a:latin typeface="Calibri"/>
              </a:rPr>
              <a:t>IoT sensor nodes dengan LoRaWAN
(jarak jauh, hemat daya)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317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485B"/>
                </a:solidFill>
                <a:latin typeface="Calibri"/>
              </a:rPr>
              <a:t>Prototipe student-grade untuk riset
(biaya &lt; Rp 1Juta/node)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1089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485B"/>
                </a:solidFill>
                <a:latin typeface="Calibri"/>
              </a:rPr>
              <a:t>ML cloud-side untuk deteksi anomali
dengan akurasi tinggi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8620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485B"/>
                </a:solidFill>
                <a:latin typeface="Calibri"/>
              </a:rPr>
              <a:t>SaaS dashboard multi-tenant
untuk monitoring real-time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12080"/>
            <a:ext cx="11430000" cy="5029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23036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Target Area: Desa-desa rural Bandung (Lembang, Rancabolang, Ciburial)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Arsitektur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485B"/>
                </a:solidFill>
                <a:latin typeface="Calibri"/>
              </a:rPr>
              <a:t>High-Level Overview: IoT → ML → SaaS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011680" cy="12801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Sensor Nodes
(Edge)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ESP32-S3 + RFM95W
LoRaWAN + Solar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737360"/>
            <a:ext cx="640080" cy="137160"/>
          </a:xfrm>
          <a:prstGeom prst="rect">
            <a:avLst/>
          </a:prstGeom>
          <a:solidFill>
            <a:srgbClr val="47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1280160"/>
            <a:ext cx="2011680" cy="12801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LoRaWAN
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828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RPi Zero2 W
RAK/LoRa 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737360"/>
            <a:ext cx="640080" cy="137160"/>
          </a:xfrm>
          <a:prstGeom prst="rect">
            <a:avLst/>
          </a:prstGeom>
          <a:solidFill>
            <a:srgbClr val="47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1280160"/>
            <a:ext cx="2011680" cy="1280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The Things
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828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MQTT Webhook
Free Tier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1737360"/>
            <a:ext cx="640080" cy="137160"/>
          </a:xfrm>
          <a:prstGeom prst="rect">
            <a:avLst/>
          </a:prstGeom>
          <a:solidFill>
            <a:srgbClr val="47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1280160"/>
            <a:ext cx="2011680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Cloud Backend
(ML + API)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1828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FastAPI + TimescaleDB
scikit-learn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0" y="1737360"/>
            <a:ext cx="640080" cy="137160"/>
          </a:xfrm>
          <a:prstGeom prst="rect">
            <a:avLst/>
          </a:prstGeom>
          <a:solidFill>
            <a:srgbClr val="47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0" y="1280160"/>
            <a:ext cx="2011680" cy="1280160"/>
          </a:xfrm>
          <a:prstGeom prst="rect">
            <a:avLst/>
          </a:prstGeom>
          <a:solidFill>
            <a:srgbClr val="DB2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0" y="1325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SaaS Dashboard
(Frontend)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18288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E0F2FE"/>
                </a:solidFill>
                <a:latin typeface="Calibri"/>
              </a:rPr>
              <a:t>Next.js
Real-time Alerts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743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485B"/>
                </a:solidFill>
                <a:latin typeface="Calibri"/>
              </a:rPr>
              <a:t>Data Flow: Sensor Readings → LoRaWAN TX → TTN → Webhook → FastAPI → TimescaleDB → ML Inference → Alert Engine → SMS/Email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200400"/>
            <a:ext cx="11430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Edge Layer (Hardware)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611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5× ESP32-S3 sensor nodes  • 1× LoRaWAN gateway  • 10W solar panel per node  • 3× 18650 battery (26-day autonomy)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Cloud Layer (Backend)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389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FastAPI REST + WebSocket  • TimescaleDB  • scikit-learn Random Forest  • Alert Engine (Twilio SMS + Email)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Application Layer (Frontend)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166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Next.js SaaS dashboard  • Leaflet map  • Real-time charts (Recharts)  • Multi-tenant + role-based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Arsitektur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485B"/>
                </a:solidFill>
                <a:latin typeface="Calibri"/>
              </a:rPr>
              <a:t>Per Node: ESP32-S3 + Sensor Suite + Solar Power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Komponen per Node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536192"/>
            <a:ext cx="457200" cy="2286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MCU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645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ESP32-S3 DevKit C — dual-core, deep sleep 10µA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1938528"/>
            <a:ext cx="45720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8653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LoRa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04825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RFM95W 915MHz — LoRaWAN AS923 band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340864"/>
            <a:ext cx="457200" cy="2286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267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45059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MH-RD Tipping Bucket — interrupt on tip</a:t>
            </a:r>
          </a:p>
        </p:txBody>
      </p:sp>
      <p:sp>
        <p:nvSpPr>
          <p:cNvPr id="18" name="Oval 17"/>
          <p:cNvSpPr/>
          <p:nvPr/>
        </p:nvSpPr>
        <p:spPr>
          <a:xfrm>
            <a:off x="502920" y="2743200"/>
            <a:ext cx="45720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6700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Accel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852928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GY-521 MPU-6050 — I²C, vibration threshold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3145536"/>
            <a:ext cx="457200" cy="2286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07238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Tilt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25526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GY-25 UART — calibrated ±80°, 0.01° resolution</a:t>
            </a:r>
          </a:p>
        </p:txBody>
      </p:sp>
      <p:sp>
        <p:nvSpPr>
          <p:cNvPr id="24" name="Oval 23"/>
          <p:cNvSpPr/>
          <p:nvPr/>
        </p:nvSpPr>
        <p:spPr>
          <a:xfrm>
            <a:off x="502920" y="3547872"/>
            <a:ext cx="45720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474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GPS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6576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u-blox NEO-6M — periodic position check 1-6h</a:t>
            </a:r>
          </a:p>
        </p:txBody>
      </p:sp>
      <p:sp>
        <p:nvSpPr>
          <p:cNvPr id="27" name="Oval 26"/>
          <p:cNvSpPr/>
          <p:nvPr/>
        </p:nvSpPr>
        <p:spPr>
          <a:xfrm>
            <a:off x="502920" y="3950208"/>
            <a:ext cx="457200" cy="22860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38770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Ext.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05993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Slide Potentiometer 10kΩ — crack displacement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" y="4352544"/>
            <a:ext cx="457200" cy="22860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2793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Power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46227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3× 18650 + TP4056 + 10W Solar + Controller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1005840"/>
            <a:ext cx="566928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Profil Daya (Hybrid Mode)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Deep Sleep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0" y="1508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~10 µA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1737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MCU idle, sensors in standby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Scheduled Wake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20574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~20 mA × 5s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2286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Poll sensors + LoRaWAN TX every 15 min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606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Interrupt Wake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260603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~20 mA × 3s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28346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Rain tip / accel spike → immediate TX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31546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Solar Recovery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38160" y="315467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10W panel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38327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~4-5 hours partial sun → full charge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3703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Battery Autonomy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3703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26 days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39319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3×18650 (6600mAh) / 250mAh/day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4572000"/>
            <a:ext cx="5669280" cy="5029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4617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Battery Life: 2–3 Years (est.) — exceeds 3-5 day autonomy requirement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Bill of Materials — Per Node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485B"/>
                </a:solidFill>
                <a:latin typeface="Calibri"/>
              </a:rPr>
              <a:t>Student-Grade Prototype Hardware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11430000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6926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Komponen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96926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Produk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9692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Harga (Rp)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969264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Qty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969264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Subtotal (Rp)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298448"/>
            <a:ext cx="11430000" cy="3840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624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MCU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13624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ESP32-S3 DevKit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3624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85,000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36245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136245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85,000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682495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17465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LoRa Radio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174650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RFM95W 915MHz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7465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80,000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174650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17465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80,000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066543"/>
            <a:ext cx="11430000" cy="3840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13055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Rain Sensor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213055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MH-RD Tipping Bucket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13055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15,000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2130551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13055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15,000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2450591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251459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Accelerometer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25145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GY-521 (MPU-6050)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5145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25,000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58200" y="2514599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2514599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25,000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834640"/>
            <a:ext cx="11430000" cy="3840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2898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Inclinometer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28986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GY-25 (UART)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28986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120,000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289864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28986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120,000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218688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32826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GPS Module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32826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u-blox NEO-6M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2826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80,000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58200" y="3282696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328269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80,000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602736"/>
            <a:ext cx="11430000" cy="3840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57200" y="36667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Extensometer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36667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Slide Potentiometer 10kΩ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36667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20,000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58200" y="3666744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366674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20,000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986783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40507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Power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880360" y="405079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18650 LiPo ×3 + TP4056 + Solar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405079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225,000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58200" y="4050791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4050791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225,000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370831"/>
            <a:ext cx="11430000" cy="3840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57200" y="4434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Casing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80360" y="4434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IP65 Junction Box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67512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40,000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58200" y="44348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26880" y="4434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40,000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754880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7200" y="481888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Wiring/PCB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80360" y="48188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Jumper, perfboard, connectors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675120" y="48188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40,000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58200" y="4818888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26880" y="481888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40,000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5138928"/>
            <a:ext cx="114300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5212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Per Node Total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595360" y="5212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~Rp 730,000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5522976"/>
            <a:ext cx="114300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7200" y="55961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5 Nodes Total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95360" y="559612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~Rp 3,650,000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Protokol Komunikasi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485B"/>
                </a:solidFill>
                <a:latin typeface="Calibri"/>
              </a:rPr>
              <a:t>LoRaWAN MAC + Custom Binary Payload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0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LoRaWAN Stack (MCCI Library)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Region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463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AS923 — Indonesia 915MHz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MAC 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1901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1.0.3 (LoRaWAN Regional Parameters)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408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Adaptive Data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3408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Enabled — auto-optimizes TX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7797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Duty Cycle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7797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1% regulatory limit (max 36s/hr)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1868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TX 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218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14 dBm max (adjustable)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657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AES-128 end-to-end encryption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965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Protocol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0965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MCCI LoRaWAN + The Things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5354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Integration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5354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MQTT / HTTP Webhook → FastAPI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005840"/>
            <a:ext cx="566928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Custom Binary Payload (19 bytes)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14173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9AB0"/>
                </a:solidFill>
                <a:latin typeface="Calibri"/>
              </a:rPr>
              <a:t>MSB ──────────────────────────────────► LSB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1874519"/>
            <a:ext cx="457200" cy="228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8288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1B Severity Flag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0x00=Normal, 0x01=Watch, 0x02=Warning, 0x03=Critical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212848"/>
            <a:ext cx="457200" cy="228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0" y="216712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1B Sensor Mask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2167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Which sensors are reporting in this burst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551176"/>
            <a:ext cx="457200" cy="228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250545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2B Rain Tips (15min)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0" y="250545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Cumulative tipping bucket count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889503"/>
            <a:ext cx="457200" cy="228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284378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2B Accel Magnitude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284378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RMS g-force over window (×0.001g)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227832"/>
            <a:ext cx="457200" cy="228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31821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2B Tilt Angle (°)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3182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Deviation from baseline (×0.01°)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566160"/>
            <a:ext cx="457200" cy="228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0" y="3520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2B Crack Delta (mm)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20" y="3520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Displacement from baseline (×0.1mm)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3904487"/>
            <a:ext cx="457200" cy="228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385876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4B Latitude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46720" y="3858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Signed 32-bit × 10⁶ (degrees)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242816"/>
            <a:ext cx="457200" cy="2286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0" y="419709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F766E"/>
                </a:solidFill>
                <a:latin typeface="Calibri"/>
              </a:rPr>
              <a:t>4B Longitude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41970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Signed 32-bit × 10⁶ (degrees)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4581144"/>
            <a:ext cx="457200" cy="228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58000" y="453542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Calibri"/>
              </a:rPr>
              <a:t>2B Battery (mV)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5354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MCU supply voltage × 1mV resolution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120640"/>
            <a:ext cx="11430000" cy="64008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16636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766E"/>
                </a:solidFill>
                <a:latin typeface="Calibri"/>
              </a:rPr>
              <a:t>Benefits: 19-byte payload = ~100ms TX time → ultra-low power • Binary format = no JSON parsing overhead on MCU • Severity flag enables gateway-level priority routing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Manajemen Daya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485B"/>
                </a:solidFill>
                <a:latin typeface="Calibri"/>
              </a:rPr>
              <a:t>Hybrid Mode: Scheduled + Interrupt-Driven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3657600" cy="548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Scheduled Wake
(every 15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766E"/>
                </a:solidFill>
                <a:latin typeface="Calibri"/>
              </a:rPr>
              <a:t>~250 µAh/day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329184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MCU wakes, polls all sensors (~3-5s)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LoRaWAN TX with current readings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1546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Returns to deep sleep (10µA)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Captures slow-deformation trends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00584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005840"/>
            <a:ext cx="365760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1051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Interrupt Wake
(Emergency)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DC2626"/>
                </a:solidFill>
                <a:latin typeface="Calibri"/>
              </a:rPr>
              <a:t>~50 µAh/day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2194560"/>
            <a:ext cx="329184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Rain tip → immediate wake, burst 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Accel &gt;0.2g sustained → wake, TX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1546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Tilt &gt;2° change → wake, 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Overrides schedule for critical alerts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005840"/>
            <a:ext cx="36576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005840"/>
            <a:ext cx="3657600" cy="5486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0515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Solar Charging
(10W panel)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16459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4B8A6"/>
                </a:solidFill>
                <a:latin typeface="Calibri"/>
              </a:rPr>
              <a:t>Full charge
4-5 hours sun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194560"/>
            <a:ext cx="3291840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10W monocrystalline panel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743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MPPT controller for efficiency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1546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3× 18650 in parallel (6600mAh)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Survives 3-5 cloudy days (industry std)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166360"/>
            <a:ext cx="114300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212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Power Budget Summary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532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Daily: ~300µAh | Battery: 6600mAh | Autonomy: 22+ days | Solar recovery: 4-5h partial sun | Battery life: 2-3 years (est.)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Arsitektur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485B"/>
                </a:solidFill>
                <a:latin typeface="Calibri"/>
              </a:rPr>
              <a:t>LoRaWAN Gateway: Raspberry Pi Zero2 W + Solar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0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Gateway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RPi Zero 2 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Quad-core ARM, WiFi/Ethernet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4B8A6"/>
                </a:solidFill>
                <a:latin typeface="Calibri"/>
              </a:rPr>
              <a:t>Rp 250,000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LoRa 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011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RAK2245 / DoIT 8-ch gateway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011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4B8A6"/>
                </a:solidFill>
                <a:latin typeface="Calibri"/>
              </a:rPr>
              <a:t>Rp 450,000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Antenna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514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915MHz 3dBi outdoor  •  IP66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14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4B8A6"/>
                </a:solidFill>
                <a:latin typeface="Calibri"/>
              </a:rPr>
              <a:t>Rp 100,000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0175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5V adapter + UPS hat + Solar 10W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017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4B8A6"/>
                </a:solidFill>
                <a:latin typeface="Calibri"/>
              </a:rPr>
              <a:t>Rp 300,000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Casing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IP66 outdoor enclosure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35204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14B8A6"/>
                </a:solidFill>
                <a:latin typeface="Calibri"/>
              </a:rPr>
              <a:t>Rp 200,000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23360"/>
            <a:ext cx="521208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965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0965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alibri"/>
              </a:rPr>
              <a:t>Rp 1,300,000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005840"/>
            <a:ext cx="5669280" cy="4023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Gateway Data Flow</a:t>
            </a:r>
          </a:p>
        </p:txBody>
      </p:sp>
      <p:sp>
        <p:nvSpPr>
          <p:cNvPr id="29" name="Oval 28"/>
          <p:cNvSpPr/>
          <p:nvPr/>
        </p:nvSpPr>
        <p:spPr>
          <a:xfrm>
            <a:off x="6309360" y="1600200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60020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LoRa RX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1783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Sensor nodes transmit via LoRaWAN to gateway</a:t>
            </a:r>
          </a:p>
        </p:txBody>
      </p:sp>
      <p:sp>
        <p:nvSpPr>
          <p:cNvPr id="33" name="Oval 32"/>
          <p:cNvSpPr/>
          <p:nvPr/>
        </p:nvSpPr>
        <p:spPr>
          <a:xfrm>
            <a:off x="6309360" y="2194560"/>
            <a:ext cx="320040" cy="3200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1945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2103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De-duplicate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Gateway filters duplicate frames (multi-channel)</a:t>
            </a:r>
          </a:p>
        </p:txBody>
      </p:sp>
      <p:sp>
        <p:nvSpPr>
          <p:cNvPr id="37" name="Oval 36"/>
          <p:cNvSpPr/>
          <p:nvPr/>
        </p:nvSpPr>
        <p:spPr>
          <a:xfrm>
            <a:off x="6309360" y="2788920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278892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26974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TTN uplink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2971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Forward to The Things Stack via MQTT</a:t>
            </a:r>
          </a:p>
        </p:txBody>
      </p:sp>
      <p:sp>
        <p:nvSpPr>
          <p:cNvPr id="41" name="Oval 40"/>
          <p:cNvSpPr/>
          <p:nvPr/>
        </p:nvSpPr>
        <p:spPr>
          <a:xfrm>
            <a:off x="6309360" y="3383280"/>
            <a:ext cx="320040" cy="32004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33832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2084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Webhook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3566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TTN forwards to FastAPI backend via HTTPS</a:t>
            </a:r>
          </a:p>
        </p:txBody>
      </p:sp>
      <p:sp>
        <p:nvSpPr>
          <p:cNvPr id="45" name="Oval 44"/>
          <p:cNvSpPr/>
          <p:nvPr/>
        </p:nvSpPr>
        <p:spPr>
          <a:xfrm>
            <a:off x="6309360" y="3977639"/>
            <a:ext cx="320040" cy="32004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3977639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4B8A6"/>
                </a:solidFill>
                <a:latin typeface="Calibri"/>
              </a:rPr>
              <a:t>Internet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4160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RPi Zero2 W connects via WiFi/Ethernet to cloud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4572000"/>
            <a:ext cx="5669280" cy="5029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9360" y="4617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Coverage: ~5km urban, ~15km rural (line-of-sight) — covers most village pilot areas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Arsitektur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485B"/>
                </a:solidFill>
                <a:latin typeface="Calibri"/>
              </a:rPr>
              <a:t>FastAPI + TimescaleDB + ML Inference Service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097280"/>
            <a:ext cx="1920240" cy="3840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Data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45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TTN MQTT Webhook →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402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Decode binary payload (19B)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Validate → TimescaleDB write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39" y="2926080"/>
            <a:ext cx="457200" cy="109728"/>
          </a:xfrm>
          <a:prstGeom prst="rect">
            <a:avLst/>
          </a:prstGeom>
          <a:solidFill>
            <a:srgbClr val="47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68880" y="1097280"/>
            <a:ext cx="1920240" cy="3840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1143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645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TimescaleDB (PostgreSQL ext)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2402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Retention: 30 days raw, 1yr aggregated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Compression: ~10:1 ratio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2926080"/>
            <a:ext cx="457200" cy="109728"/>
          </a:xfrm>
          <a:prstGeom prst="rect">
            <a:avLst/>
          </a:prstGeom>
          <a:solidFill>
            <a:srgbClr val="47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40480" y="1097280"/>
            <a:ext cx="1920240" cy="3840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1143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ML Inference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1645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scikit-learn Random Forest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22402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Input: tabular sensor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Output: landslide probability 0-1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2926080"/>
            <a:ext cx="457200" cy="109728"/>
          </a:xfrm>
          <a:prstGeom prst="rect">
            <a:avLst/>
          </a:prstGeom>
          <a:solidFill>
            <a:srgbClr val="47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12080" y="1097280"/>
            <a:ext cx="1920240" cy="3840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1143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Alert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1645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Rule-based thresholds OR ML P&gt;0.7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22402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Escalation: Watch → Warning → Critical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Dispatch: SMS (Twilio) + Email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2926080"/>
            <a:ext cx="457200" cy="109728"/>
          </a:xfrm>
          <a:prstGeom prst="rect">
            <a:avLst/>
          </a:prstGeom>
          <a:solidFill>
            <a:srgbClr val="47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6480" y="1097280"/>
            <a:ext cx="1920240" cy="3840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6480" y="1143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API / Frontend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16459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FastAPI REST + WebSocket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24028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Next.js dashboard (real-time)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83464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JWT auth + multi-tenant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74920"/>
            <a:ext cx="114300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5120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Tech Stack</a:t>
            </a:r>
          </a:p>
        </p:txBody>
      </p:sp>
      <p:sp>
        <p:nvSpPr>
          <p:cNvPr id="38" name="Oval 37"/>
          <p:cNvSpPr/>
          <p:nvPr/>
        </p:nvSpPr>
        <p:spPr>
          <a:xfrm>
            <a:off x="457200" y="5559552"/>
            <a:ext cx="137160" cy="137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FastAPI 3.11+</a:t>
            </a:r>
          </a:p>
        </p:txBody>
      </p:sp>
      <p:sp>
        <p:nvSpPr>
          <p:cNvPr id="40" name="Oval 39"/>
          <p:cNvSpPr/>
          <p:nvPr/>
        </p:nvSpPr>
        <p:spPr>
          <a:xfrm>
            <a:off x="3200400" y="5559552"/>
            <a:ext cx="137160" cy="137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TimescaleDB</a:t>
            </a:r>
          </a:p>
        </p:txBody>
      </p:sp>
      <p:sp>
        <p:nvSpPr>
          <p:cNvPr id="42" name="Oval 41"/>
          <p:cNvSpPr/>
          <p:nvPr/>
        </p:nvSpPr>
        <p:spPr>
          <a:xfrm>
            <a:off x="5943600" y="5559552"/>
            <a:ext cx="137160" cy="137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7220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scikit-learn</a:t>
            </a:r>
          </a:p>
        </p:txBody>
      </p:sp>
      <p:sp>
        <p:nvSpPr>
          <p:cNvPr id="44" name="Oval 43"/>
          <p:cNvSpPr/>
          <p:nvPr/>
        </p:nvSpPr>
        <p:spPr>
          <a:xfrm>
            <a:off x="8686800" y="5559552"/>
            <a:ext cx="137160" cy="137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5400" y="5486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Twilio SMS</a:t>
            </a:r>
          </a:p>
        </p:txBody>
      </p:sp>
      <p:sp>
        <p:nvSpPr>
          <p:cNvPr id="46" name="Oval 45"/>
          <p:cNvSpPr/>
          <p:nvPr/>
        </p:nvSpPr>
        <p:spPr>
          <a:xfrm>
            <a:off x="457200" y="5925312"/>
            <a:ext cx="137160" cy="137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5852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Next.js 14</a:t>
            </a:r>
          </a:p>
        </p:txBody>
      </p:sp>
      <p:sp>
        <p:nvSpPr>
          <p:cNvPr id="48" name="Oval 47"/>
          <p:cNvSpPr/>
          <p:nvPr/>
        </p:nvSpPr>
        <p:spPr>
          <a:xfrm>
            <a:off x="3200400" y="5925312"/>
            <a:ext cx="137160" cy="137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29000" y="5852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Socket.IO</a:t>
            </a:r>
          </a:p>
        </p:txBody>
      </p:sp>
      <p:sp>
        <p:nvSpPr>
          <p:cNvPr id="50" name="Oval 49"/>
          <p:cNvSpPr/>
          <p:nvPr/>
        </p:nvSpPr>
        <p:spPr>
          <a:xfrm>
            <a:off x="5943600" y="5925312"/>
            <a:ext cx="137160" cy="137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172200" y="5852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JWT Auth</a:t>
            </a:r>
          </a:p>
        </p:txBody>
      </p:sp>
      <p:sp>
        <p:nvSpPr>
          <p:cNvPr id="52" name="Oval 51"/>
          <p:cNvSpPr/>
          <p:nvPr/>
        </p:nvSpPr>
        <p:spPr>
          <a:xfrm>
            <a:off x="8686800" y="5925312"/>
            <a:ext cx="137160" cy="1371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915400" y="5852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DigitalOcean VPS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Pendekatan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485B"/>
                </a:solidFill>
                <a:latin typeface="Calibri"/>
              </a:rPr>
              <a:t>Cloud-Side Anomaly Detection — dari Random Forest ke LSTM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0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4864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Fase 1 — Random Forest Classifier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Input Features (6)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7451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Rain tips 15min • Accel RMS • Tilt delta • Crack delta • Time-of-day • Season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194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Target 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688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0 = Normal, 1 = Pre-landslide pattern (synthetic initially)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788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Why Random Forest?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6323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Interpretable • Fast inference (&lt;100ms) • No GPU needed • Robust to noise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83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Training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Start: synthetic threshold violations → Real: labeled historical sensor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25195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P(landslide) in next 1-hour window • Threshold: &gt;0.7 = Critical alert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005840"/>
            <a:ext cx="566928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005840"/>
            <a:ext cx="56692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Fase 2 — LSTM / GRU (Upgrade)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Calibri"/>
              </a:rPr>
              <a:t>Input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187451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Time-series window (e.g., 24 readings × 6 features)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Calibri"/>
              </a:rPr>
              <a:t>Why LSTM?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46887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Captures temporal patterns: slow creep → acceleration → failure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27889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Calibri"/>
              </a:rPr>
              <a:t>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06323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2-layer LSTM (128 units) + Dense → output P(landslide)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3832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Calibri"/>
              </a:rPr>
              <a:t>Training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657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Requires 3-6 months labeled historical data (normal + event)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9776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Calibri"/>
              </a:rPr>
              <a:t>When to upgrade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25195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After collecting 6+ months real data AND RF accuracy plateaus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029200"/>
            <a:ext cx="114300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074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Model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394960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926080" y="5394960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Random Forest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5394960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LSTM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12480" y="5394960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Rule-based 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559552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Inference Speed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559552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&lt; 100ms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5559552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50-200ms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559552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&lt; 1ms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572414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Data Required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572414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500+ samples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572414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10,000+ samples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5724144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None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888736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Interpretability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5888736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High (feature importance)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0" y="5888736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Medium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5888736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Very high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053328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GPU Required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26080" y="6053328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No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6053328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Yes (or cloud)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6053328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7485B"/>
                </a:solidFill>
                <a:latin typeface="Calibri"/>
              </a:rPr>
              <a:t>No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Alert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485B"/>
                </a:solidFill>
                <a:latin typeface="Calibri"/>
              </a:rPr>
              <a:t>Two-Stage Logic: Hardware Threshold + ML Probability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54864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Stage 1: Hardware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554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Rain tips &gt; 10 in 15 min → Severity 0x01 (Watch)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019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Tilt deviation &gt; 5° from baseline → Severity 0x02 (Warning)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24942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Accel &gt; 0.3g sustained 2s → Severity 0x02 (Warning)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9689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Multi-sensor violation → Severity 0x03 (Critical)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005840"/>
            <a:ext cx="566928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005840"/>
            <a:ext cx="56692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051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Stage 2: ML Probability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ML P &gt; 0.5 → Escalate severity by 1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019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ML P &gt; 0.7 → Critical alert (0x03), immediate SMS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2494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Combined: Hardware OR → ML = Alert trigger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59689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• Reduces false positives vs threshold-only system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114300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46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766E"/>
                </a:solidFill>
                <a:latin typeface="Calibri"/>
              </a:rPr>
              <a:t>Notification Rules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611880"/>
            <a:ext cx="11430000" cy="34747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39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639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639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363931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SMS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23360"/>
            <a:ext cx="11430000" cy="3840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087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766E"/>
                </a:solidFill>
                <a:latin typeface="Calibri"/>
              </a:rPr>
              <a:t>0x01 Watch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087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Log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4087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No alert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40873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No alert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407408"/>
            <a:ext cx="114300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4714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0x02 Warning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44714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Dashboard alert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44714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Email operators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44714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No SMS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791456"/>
            <a:ext cx="11430000" cy="38404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4855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C2626"/>
                </a:solidFill>
                <a:latin typeface="Calibri"/>
              </a:rPr>
              <a:t>0x03 Critical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4855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Dashboard + siren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4855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Email + SMS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485546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Immediate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257800"/>
            <a:ext cx="11430000" cy="5029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30352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766E"/>
                </a:solidFill>
                <a:latin typeface="Calibri"/>
              </a:rPr>
              <a:t>SMS via Twilio/Nexmo — Indonesian local number preferred for cost. Dashboard uses Socket.IO for real-time push.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Frontend SaaS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485B"/>
                </a:solidFill>
                <a:latin typeface="Calibri"/>
              </a:rPr>
              <a:t>Next.js — Real-time Monitoring + Alert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3383280" cy="411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051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Real-time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508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Live sensor readings per node via WebSocket, auto-refresh charts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00584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005840"/>
            <a:ext cx="3383280" cy="411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051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Map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508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Geographic visualization with Leaflet + OpenStreetMap, severity color-coding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100584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80960" y="1005840"/>
            <a:ext cx="33832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1051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Alert Management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1508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Acknowledge/resolve workflow, severity levels, alert history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74320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743200"/>
            <a:ext cx="3383280" cy="411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Node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46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Add, configure, calibrate sensor nodes, set per-node thresholds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274320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0" y="2743200"/>
            <a:ext cx="3383280" cy="411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60520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Data 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60520" y="3246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CSV/JSON export, date-range filter, historical data explorer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80960" y="2743200"/>
            <a:ext cx="3383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2743200"/>
            <a:ext cx="3383280" cy="411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2788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Multi-tenant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246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Role-based: Admin (full) / Operator (acknowledge) / Viewer (read-only)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621792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23620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Built with: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0" y="6291072"/>
            <a:ext cx="137160" cy="228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14600" y="6281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Next.js 14 (App Router)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6291072"/>
            <a:ext cx="137160" cy="228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60520" y="6281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Tailwind CSS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77840" y="6291072"/>
            <a:ext cx="137160" cy="228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06440" y="6281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Recharts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6291072"/>
            <a:ext cx="137160" cy="228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6281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Leaflet + OSM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869680" y="6291072"/>
            <a:ext cx="137160" cy="228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98280" y="6281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Socket.IO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515600" y="6291072"/>
            <a:ext cx="137160" cy="2286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744200" y="6281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NextAuth.js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Biaya Operasional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485B"/>
                </a:solidFill>
                <a:latin typeface="Calibri"/>
              </a:rPr>
              <a:t>Hardware Investasi + Biaya Bulanan Berkelanjutan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4864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One-Time Hardware Investment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485B"/>
                </a:solidFill>
                <a:latin typeface="Calibri"/>
              </a:rPr>
              <a:t>5× Sensor Nodes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5087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485B"/>
                </a:solidFill>
                <a:latin typeface="Calibri"/>
              </a:rPr>
              <a:t>Rp 3,650,000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65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485B"/>
                </a:solidFill>
                <a:latin typeface="Calibri"/>
              </a:rPr>
              <a:t>1× LoRaWAN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9659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485B"/>
                </a:solidFill>
                <a:latin typeface="Calibri"/>
              </a:rPr>
              <a:t>Rp 1,300,000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7485B"/>
                </a:solidFill>
                <a:latin typeface="Calibri"/>
              </a:rPr>
              <a:t>Mounts, cables, misc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423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47485B"/>
                </a:solidFill>
                <a:latin typeface="Calibri"/>
              </a:rPr>
              <a:t>Rp 500,000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521208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63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Total Hardware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0632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Calibri"/>
              </a:rPr>
              <a:t>~Rp 5,450,000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520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  <a:latin typeface="Calibri"/>
              </a:rPr>
              <a:t>vs Industrial Grade: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Student-grade = 95% cost reduction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005840"/>
            <a:ext cx="56692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10515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766E"/>
                </a:solidFill>
                <a:latin typeface="Calibri"/>
              </a:rPr>
              <a:t>Monthly Recurring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Cloud VPS (backend + DB)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508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4B8A6"/>
                </a:solidFill>
                <a:latin typeface="Calibri"/>
              </a:rPr>
              <a:t>Rp 80,000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1508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9AB0"/>
                </a:solidFill>
                <a:latin typeface="Calibri"/>
              </a:rPr>
              <a:t>~$2.5/mo (DigitalOcean)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011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SMS Alerts (Twilio)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2011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4B8A6"/>
                </a:solidFill>
                <a:latin typeface="Calibri"/>
              </a:rPr>
              <a:t>Rp 50,000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20116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9AB0"/>
                </a:solidFill>
                <a:latin typeface="Calibri"/>
              </a:rPr>
              <a:t>~$1.5/mo (50 critical alerts)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Email (SendGrid)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25146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4B8A6"/>
                </a:solidFill>
                <a:latin typeface="Calibri"/>
              </a:rPr>
              <a:t>Rp 15,000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2514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9AB0"/>
                </a:solidFill>
                <a:latin typeface="Calibri"/>
              </a:rPr>
              <a:t>~$0.5/mo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017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Domain + SSL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0175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4B8A6"/>
                </a:solidFill>
                <a:latin typeface="Calibri"/>
              </a:rPr>
              <a:t>Rp 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3017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9AB0"/>
                </a:solidFill>
                <a:latin typeface="Calibri"/>
              </a:rPr>
              <a:t>Cloudflare + Let's Encrypt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TTN Community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520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14B8A6"/>
                </a:solidFill>
                <a:latin typeface="Calibri"/>
              </a:rPr>
              <a:t>Rp 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35204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9AB0"/>
                </a:solidFill>
                <a:latin typeface="Calibri"/>
              </a:rPr>
              <a:t>Free tier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4114800"/>
            <a:ext cx="5394960" cy="3657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Calibri"/>
              </a:rPr>
              <a:t>Monthly 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2062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F766E"/>
                </a:solidFill>
                <a:latin typeface="Calibri"/>
              </a:rPr>
              <a:t>~Rp 145,000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257800"/>
            <a:ext cx="11430000" cy="640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3035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Year 1 Total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32180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FBF1"/>
                </a:solidFill>
                <a:latin typeface="Calibri"/>
              </a:rPr>
              <a:t>Hardware (Rp 5.45M) + Ops (Rp 1.74M) = ~Rp 7.2M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321808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FBF1"/>
                </a:solidFill>
                <a:latin typeface="Calibri"/>
              </a:rPr>
              <a:t>Per-node/year (Y2+): ~Rp 1,200,000 (~USD 72)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Timeline Implementasi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485B"/>
                </a:solidFill>
                <a:latin typeface="Calibri"/>
              </a:rPr>
              <a:t>5 Fase — 11-16 Minggu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103120" cy="3840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43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Fase 1
Edge Firmware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0F2FE"/>
                </a:solidFill>
                <a:latin typeface="Calibri"/>
              </a:rPr>
              <a:t>2-3 minggu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48840"/>
            <a:ext cx="1828800" cy="36576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Design binary payload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163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LoRaWAN stack on ESP32-S3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4670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Sensor polling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7705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Hybrid sleep + interrupt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Power profiling 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79" y="2926080"/>
            <a:ext cx="594360" cy="109728"/>
          </a:xfrm>
          <a:prstGeom prst="rect">
            <a:avLst/>
          </a:prstGeom>
          <a:solidFill>
            <a:srgbClr val="47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1097280"/>
            <a:ext cx="2103120" cy="38404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1143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Fase 2
Backend Infra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0F2FE"/>
                </a:solidFill>
                <a:latin typeface="Calibri"/>
              </a:rPr>
              <a:t>3-4 minggu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2148840"/>
            <a:ext cx="1828800" cy="36576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8036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VPS setup + TimescaleDB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8163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TTN 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34670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FastAPI ingestion + WebSocket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87705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ML Random Forest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4074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Alert engine + SMS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926080"/>
            <a:ext cx="594360" cy="109728"/>
          </a:xfrm>
          <a:prstGeom prst="rect">
            <a:avLst/>
          </a:prstGeom>
          <a:solidFill>
            <a:srgbClr val="47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1097280"/>
            <a:ext cx="2103120" cy="3840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0" y="1143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Fase 3
Frontend SaaS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0F2FE"/>
                </a:solidFill>
                <a:latin typeface="Calibri"/>
              </a:rPr>
              <a:t>3-4 minggu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66360" y="2148840"/>
            <a:ext cx="1828800" cy="36576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Next.js scaffold + Tailwind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28163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Auth (JWT + roles)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6360" y="334670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Dashboard + charts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66360" y="387705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Map + node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44074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Data export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2926080"/>
            <a:ext cx="594360" cy="109728"/>
          </a:xfrm>
          <a:prstGeom prst="rect">
            <a:avLst/>
          </a:prstGeom>
          <a:solidFill>
            <a:srgbClr val="47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0" y="1097280"/>
            <a:ext cx="2103120" cy="3840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0" y="1143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Fase 4
Field Testing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0F2FE"/>
                </a:solidFill>
                <a:latin typeface="Calibri"/>
              </a:rPr>
              <a:t>2-3 minggu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2148840"/>
            <a:ext cx="1828800" cy="36576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5236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Deploy 5 nodes + gateway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2360" y="28163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Collect baseline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334670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Simulate failure scenarios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387705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ML model tuning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44074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Stakeholder user testing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8320" y="2926080"/>
            <a:ext cx="594360" cy="109728"/>
          </a:xfrm>
          <a:prstGeom prst="rect">
            <a:avLst/>
          </a:prstGeom>
          <a:solidFill>
            <a:srgbClr val="474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601200" y="1097280"/>
            <a:ext cx="2103120" cy="3840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11430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Fase 5
Documentation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17373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0F2FE"/>
                </a:solidFill>
                <a:latin typeface="Calibri"/>
              </a:rPr>
              <a:t>1-2 minggu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38360" y="2148840"/>
            <a:ext cx="1828800" cy="36576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38360" y="22860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System architecture doc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738360" y="28163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ML methodology writeup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38360" y="334670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Cost/benefit analysis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38360" y="387705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0F2FE"/>
                </a:solidFill>
                <a:latin typeface="Calibri"/>
              </a:rPr>
              <a:t>• Lessons learned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5074920"/>
            <a:ext cx="11430000" cy="5029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13892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Calibri"/>
              </a:rPr>
              <a:t>Total: 11-16 minggu | Immediate action: Build 1 prototype node + test LoRaWAN coverage in backyard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Verifikasi dan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485B"/>
                </a:solidFill>
                <a:latin typeface="Calibri"/>
              </a:rPr>
              <a:t>End-to-End System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05840"/>
            <a:ext cx="36576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Hardware Verification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691640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00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Deep sleep current &lt; 15µA (multimeter)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286000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94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TX current &lt; 120mA peak (oscilloscope/multimeter)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2880360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88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LoRaWAN packet delivery &gt; 95% (100-packet test)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474720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Solar charging: cloudy day sim → battery drain &lt; 20%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069079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776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Rain sensor tip interrupt response &lt; 100ms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10058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97680" y="1005840"/>
            <a:ext cx="365760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1051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Backend Verification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1691640"/>
            <a:ext cx="109728" cy="1097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1600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API endpoint tests → 200 OK for all routes</a:t>
            </a:r>
          </a:p>
        </p:txBody>
      </p:sp>
      <p:sp>
        <p:nvSpPr>
          <p:cNvPr id="25" name="Oval 24"/>
          <p:cNvSpPr/>
          <p:nvPr/>
        </p:nvSpPr>
        <p:spPr>
          <a:xfrm>
            <a:off x="4480560" y="2286000"/>
            <a:ext cx="109728" cy="1097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2194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WebSocket connection → real-time data to frontend</a:t>
            </a:r>
          </a:p>
        </p:txBody>
      </p:sp>
      <p:sp>
        <p:nvSpPr>
          <p:cNvPr id="27" name="Oval 26"/>
          <p:cNvSpPr/>
          <p:nvPr/>
        </p:nvSpPr>
        <p:spPr>
          <a:xfrm>
            <a:off x="4480560" y="2880360"/>
            <a:ext cx="109728" cy="1097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2788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ML inference latency &lt; 100ms per message</a:t>
            </a:r>
          </a:p>
        </p:txBody>
      </p:sp>
      <p:sp>
        <p:nvSpPr>
          <p:cNvPr id="29" name="Oval 28"/>
          <p:cNvSpPr/>
          <p:nvPr/>
        </p:nvSpPr>
        <p:spPr>
          <a:xfrm>
            <a:off x="4480560" y="3474720"/>
            <a:ext cx="109728" cy="1097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3383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SMS delivery → alert received &lt; 30s of trigger</a:t>
            </a:r>
          </a:p>
        </p:txBody>
      </p:sp>
      <p:sp>
        <p:nvSpPr>
          <p:cNvPr id="31" name="Oval 30"/>
          <p:cNvSpPr/>
          <p:nvPr/>
        </p:nvSpPr>
        <p:spPr>
          <a:xfrm>
            <a:off x="4480560" y="4069079"/>
            <a:ext cx="109728" cy="109728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63440" y="39776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TimescaleDB retention policy → data auto-archived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1005840"/>
            <a:ext cx="365760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1005840"/>
            <a:ext cx="36576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10515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End-to-End Verification</a:t>
            </a:r>
          </a:p>
        </p:txBody>
      </p:sp>
      <p:sp>
        <p:nvSpPr>
          <p:cNvPr id="36" name="Oval 35"/>
          <p:cNvSpPr/>
          <p:nvPr/>
        </p:nvSpPr>
        <p:spPr>
          <a:xfrm>
            <a:off x="8412480" y="169164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95360" y="16002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Simulate landslide: manual tilt + rain bucket trigger</a:t>
            </a:r>
          </a:p>
        </p:txBody>
      </p:sp>
      <p:sp>
        <p:nvSpPr>
          <p:cNvPr id="38" name="Oval 37"/>
          <p:cNvSpPr/>
          <p:nvPr/>
        </p:nvSpPr>
        <p:spPr>
          <a:xfrm>
            <a:off x="8412480" y="228600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95360" y="21945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Verify: severity flag → TTN → webhook → ML → alert → SMS</a:t>
            </a:r>
          </a:p>
        </p:txBody>
      </p:sp>
      <p:sp>
        <p:nvSpPr>
          <p:cNvPr id="40" name="Oval 39"/>
          <p:cNvSpPr/>
          <p:nvPr/>
        </p:nvSpPr>
        <p:spPr>
          <a:xfrm>
            <a:off x="8412480" y="288036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95360" y="27889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Dashboard shows alert within 60s of trigger</a:t>
            </a:r>
          </a:p>
        </p:txBody>
      </p:sp>
      <p:sp>
        <p:nvSpPr>
          <p:cNvPr id="42" name="Oval 41"/>
          <p:cNvSpPr/>
          <p:nvPr/>
        </p:nvSpPr>
        <p:spPr>
          <a:xfrm>
            <a:off x="8412480" y="3474720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95360" y="3383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SMS received by operators within 90s</a:t>
            </a:r>
          </a:p>
        </p:txBody>
      </p:sp>
      <p:sp>
        <p:nvSpPr>
          <p:cNvPr id="44" name="Oval 43"/>
          <p:cNvSpPr/>
          <p:nvPr/>
        </p:nvSpPr>
        <p:spPr>
          <a:xfrm>
            <a:off x="8412480" y="4069079"/>
            <a:ext cx="109728" cy="10972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95360" y="3977639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Alert resolved → dashboard updates in &lt; 5s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257800"/>
            <a:ext cx="11430000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321808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Key Metric: Sensor trigger → Dashboard alert &lt; 60s | Operator SMS &lt; 90s | End-to-end reliability &gt; 95%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Risiko dan Mitigasi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7485B"/>
                </a:solidFill>
                <a:latin typeface="Calibri"/>
              </a:rPr>
              <a:t>Identifikasi Risiko Utama + Strategi Penanganan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14400"/>
            <a:ext cx="11430000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Risiko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Dampak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9601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Mitigasi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960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81328"/>
            <a:ext cx="11430000" cy="5669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4533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7485B"/>
                </a:solidFill>
                <a:latin typeface="Calibri"/>
              </a:rPr>
              <a:t>LoRaWAN coverage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54533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Sensor data not reaching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54533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Build own solar gateway (included in BOM), test coverage before deployment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0" y="1618488"/>
            <a:ext cx="82296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0" y="161848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Mitigated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048256"/>
            <a:ext cx="11430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112264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7485B"/>
                </a:solidFill>
                <a:latin typeface="Calibri"/>
              </a:rPr>
              <a:t>Power drain during rainy season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1122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Battery dies during critical event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11226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3×18650 + 10W panel = 26-day autonomy, far exceeds requirement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0" y="2185416"/>
            <a:ext cx="82296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218541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Mitigated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615184"/>
            <a:ext cx="11430000" cy="5669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267919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7485B"/>
                </a:solidFill>
                <a:latin typeface="Calibri"/>
              </a:rPr>
              <a:t>False positives from sensor noise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679191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Alarm fatigue, unnecessary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2679191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Two-stage alert: hardware threshold + ML probability filter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0" y="2752344"/>
            <a:ext cx="82296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0" y="275234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Mitigated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182112"/>
            <a:ext cx="11430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246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7485B"/>
                </a:solidFill>
                <a:latin typeface="Calibri"/>
              </a:rPr>
              <a:t>SMS delivery failure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32461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Critical alert not received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461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Redundant email + dashboard; test Indonesian provider before field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72800" y="3319272"/>
            <a:ext cx="822960" cy="292608"/>
          </a:xfrm>
          <a:prstGeom prst="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0" y="3319272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749039"/>
            <a:ext cx="11430000" cy="56692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81304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7485B"/>
                </a:solidFill>
                <a:latin typeface="Calibri"/>
              </a:rPr>
              <a:t>Vandalism / theft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81304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Hardware damaged or stolen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813048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Camouflage casing; community involvement; local govt partnership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972800" y="3886200"/>
            <a:ext cx="82296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0" y="3886200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315968"/>
            <a:ext cx="114300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4379976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7485B"/>
                </a:solidFill>
                <a:latin typeface="Calibri"/>
              </a:rPr>
              <a:t>ML model low accuracy (no labeled data)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437997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False negatives = missed events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4379976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485B"/>
                </a:solidFill>
                <a:latin typeface="Calibri"/>
              </a:rPr>
              <a:t>Start with rule-based thresholds; ML improves as labeled data accumulates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972800" y="4453128"/>
            <a:ext cx="82296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0" y="445312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Kesimpulan dan Langkah Selanjutnya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40080"/>
            <a:ext cx="7772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85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766E"/>
                </a:solidFill>
                <a:latin typeface="Calibri"/>
              </a:rPr>
              <a:t>Ringkasan Sistem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234440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14300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LoRaWAN IoT sensor nodes dengan solar power — desain ultra-low power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627632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3619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Custom binary payload dengan severity flag — minimal TX time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020824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29384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Hybrid sleep mode (scheduled + interrupt) — 26-day battery autonomy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414016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322576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Cloud ML dengan Random Forest → upgrade path ke LSTM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2807208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715768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Two-stage alert engine: hardware threshold + ML probability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200400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108960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Next.js SaaS dashboard multi-tenant — real-time monitoring + alerts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3593592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02152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Biaya prototipe ~Rp 5.45M dengan biaya operasional ~Rp 145K/bulan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986783"/>
            <a:ext cx="109728" cy="109728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895344"/>
            <a:ext cx="7132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7485B"/>
                </a:solidFill>
                <a:latin typeface="Calibri"/>
              </a:rPr>
              <a:t>95% lebih murah dari solusi industrial-grade dengan arsitektur yang sama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640080"/>
            <a:ext cx="3383280" cy="34747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0" y="685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Langkah Selanjutnya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1188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FBF1"/>
                </a:solidFill>
                <a:latin typeface="Calibri"/>
              </a:rPr>
              <a:t>1. Finalisasi lokasi pilot village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16459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FBF1"/>
                </a:solidFill>
                <a:latin typeface="Calibri"/>
              </a:rPr>
              <a:t>2. Pesan hardware + assemble prototype node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1031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FBF1"/>
                </a:solidFill>
                <a:latin typeface="Calibri"/>
              </a:rPr>
              <a:t>3. Test LoRaWAN coverage (backyard/gateway)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560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FBF1"/>
                </a:solidFill>
                <a:latin typeface="Calibri"/>
              </a:rPr>
              <a:t>4. Deploy backend di VPS (DigitalOcean)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30175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FBF1"/>
                </a:solidFill>
                <a:latin typeface="Calibri"/>
              </a:rPr>
              <a:t>5. Mulai pengumpulan data baseline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4747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FBF1"/>
                </a:solidFill>
                <a:latin typeface="Calibri"/>
              </a:rPr>
              <a:t>6. Train &amp; validate ML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297680"/>
            <a:ext cx="11430000" cy="502920"/>
          </a:xfrm>
          <a:prstGeom prst="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3434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766E"/>
                </a:solidFill>
                <a:latin typeface="Calibri"/>
              </a:rPr>
              <a:t>Riset Lab IoT — Universitas Padjadjaran — Landslide Early Warning System — 2026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5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